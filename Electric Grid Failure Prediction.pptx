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7" r:id="rId1"/>
  </p:sldMasterIdLst>
  <p:sldIdLst>
    <p:sldId id="256" r:id="rId2"/>
    <p:sldId id="271" r:id="rId3"/>
    <p:sldId id="266" r:id="rId4"/>
    <p:sldId id="258" r:id="rId5"/>
    <p:sldId id="263" r:id="rId6"/>
    <p:sldId id="268" r:id="rId7"/>
    <p:sldId id="267" r:id="rId8"/>
    <p:sldId id="264" r:id="rId9"/>
    <p:sldId id="269" r:id="rId10"/>
    <p:sldId id="272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8DB9212D-E6F4-495A-AC37-728635FD64A6}">
          <p14:sldIdLst>
            <p14:sldId id="256"/>
            <p14:sldId id="271"/>
            <p14:sldId id="266"/>
            <p14:sldId id="258"/>
            <p14:sldId id="263"/>
            <p14:sldId id="268"/>
            <p14:sldId id="267"/>
            <p14:sldId id="264"/>
            <p14:sldId id="269"/>
            <p14:sldId id="272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58E13E3-556B-4B11-98F4-95C5396013A5}" v="1" dt="2025-09-21T06:15:39.38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17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Venkatarami Reddy Vemireddy" userId="8216fdc35a2c3c07" providerId="LiveId" clId="{2D1E42DB-12E3-4081-98E1-8F6CCBC647ED}"/>
    <pc:docChg chg="modSld">
      <pc:chgData name="Venkatarami Reddy Vemireddy" userId="8216fdc35a2c3c07" providerId="LiveId" clId="{2D1E42DB-12E3-4081-98E1-8F6CCBC647ED}" dt="2025-09-21T06:16:44.053" v="28" actId="20577"/>
      <pc:docMkLst>
        <pc:docMk/>
      </pc:docMkLst>
      <pc:sldChg chg="modSp mod">
        <pc:chgData name="Venkatarami Reddy Vemireddy" userId="8216fdc35a2c3c07" providerId="LiveId" clId="{2D1E42DB-12E3-4081-98E1-8F6CCBC647ED}" dt="2025-09-21T06:16:44.053" v="28" actId="20577"/>
        <pc:sldMkLst>
          <pc:docMk/>
          <pc:sldMk cId="2004224042" sldId="269"/>
        </pc:sldMkLst>
        <pc:spChg chg="mod">
          <ac:chgData name="Venkatarami Reddy Vemireddy" userId="8216fdc35a2c3c07" providerId="LiveId" clId="{2D1E42DB-12E3-4081-98E1-8F6CCBC647ED}" dt="2025-09-21T06:16:44.053" v="28" actId="20577"/>
          <ac:spMkLst>
            <pc:docMk/>
            <pc:sldMk cId="2004224042" sldId="269"/>
            <ac:spMk id="3" creationId="{DE19464F-D13B-3A05-C63B-9FEB3D8ADF77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B714F7-6401-4C59-99DB-70421BD72C74}" type="datetimeFigureOut">
              <a:rPr lang="en-IN" smtClean="0"/>
              <a:t>21-09-2025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9A80CF-EB86-4003-853B-4484F43BEF7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18260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B714F7-6401-4C59-99DB-70421BD72C74}" type="datetimeFigureOut">
              <a:rPr lang="en-IN" smtClean="0"/>
              <a:t>21-09-2025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9A80CF-EB86-4003-853B-4484F43BEF7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7915656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B714F7-6401-4C59-99DB-70421BD72C74}" type="datetimeFigureOut">
              <a:rPr lang="en-IN" smtClean="0"/>
              <a:t>21-09-2025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9A80CF-EB86-4003-853B-4484F43BEF7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4264471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B714F7-6401-4C59-99DB-70421BD72C74}" type="datetimeFigureOut">
              <a:rPr lang="en-IN" smtClean="0"/>
              <a:t>21-09-2025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9A80CF-EB86-4003-853B-4484F43BEF7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0600917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B714F7-6401-4C59-99DB-70421BD72C74}" type="datetimeFigureOut">
              <a:rPr lang="en-IN" smtClean="0"/>
              <a:t>21-09-2025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9A80CF-EB86-4003-853B-4484F43BEF7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7795759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B714F7-6401-4C59-99DB-70421BD72C74}" type="datetimeFigureOut">
              <a:rPr lang="en-IN" smtClean="0"/>
              <a:t>21-09-2025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9A80CF-EB86-4003-853B-4484F43BEF7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3618990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B714F7-6401-4C59-99DB-70421BD72C74}" type="datetimeFigureOut">
              <a:rPr lang="en-IN" smtClean="0"/>
              <a:t>21-09-2025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9A80CF-EB86-4003-853B-4484F43BEF7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1328754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B714F7-6401-4C59-99DB-70421BD72C74}" type="datetimeFigureOut">
              <a:rPr lang="en-IN" smtClean="0"/>
              <a:t>21-09-2025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9A80CF-EB86-4003-853B-4484F43BEF7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4417166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B714F7-6401-4C59-99DB-70421BD72C74}" type="datetimeFigureOut">
              <a:rPr lang="en-IN" smtClean="0"/>
              <a:t>21-09-2025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9A80CF-EB86-4003-853B-4484F43BEF7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669952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B714F7-6401-4C59-99DB-70421BD72C74}" type="datetimeFigureOut">
              <a:rPr lang="en-IN" smtClean="0"/>
              <a:t>21-09-2025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9A80CF-EB86-4003-853B-4484F43BEF7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0925119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B714F7-6401-4C59-99DB-70421BD72C74}" type="datetimeFigureOut">
              <a:rPr lang="en-IN" smtClean="0"/>
              <a:t>21-09-2025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9A80CF-EB86-4003-853B-4484F43BEF7E}" type="slidenum">
              <a:rPr lang="en-IN" smtClean="0"/>
              <a:t>‹#›</a:t>
            </a:fld>
            <a:endParaRPr lang="en-IN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35916233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B714F7-6401-4C59-99DB-70421BD72C74}" type="datetimeFigureOut">
              <a:rPr lang="en-IN" smtClean="0"/>
              <a:t>21-09-2025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9A80CF-EB86-4003-853B-4484F43BEF7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3469111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B714F7-6401-4C59-99DB-70421BD72C74}" type="datetimeFigureOut">
              <a:rPr lang="en-IN" smtClean="0"/>
              <a:t>21-09-2025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9A80CF-EB86-4003-853B-4484F43BEF7E}" type="slidenum">
              <a:rPr lang="en-IN" smtClean="0"/>
              <a:t>‹#›</a:t>
            </a:fld>
            <a:endParaRPr lang="en-IN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77645866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B714F7-6401-4C59-99DB-70421BD72C74}" type="datetimeFigureOut">
              <a:rPr lang="en-IN" smtClean="0"/>
              <a:t>21-09-2025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9A80CF-EB86-4003-853B-4484F43BEF7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0961496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B714F7-6401-4C59-99DB-70421BD72C74}" type="datetimeFigureOut">
              <a:rPr lang="en-IN" smtClean="0"/>
              <a:t>21-09-2025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9A80CF-EB86-4003-853B-4484F43BEF7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2259033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B714F7-6401-4C59-99DB-70421BD72C74}" type="datetimeFigureOut">
              <a:rPr lang="en-IN" smtClean="0"/>
              <a:t>21-09-2025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9A80CF-EB86-4003-853B-4484F43BEF7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4695270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4B714F7-6401-4C59-99DB-70421BD72C74}" type="datetimeFigureOut">
              <a:rPr lang="en-IN" smtClean="0"/>
              <a:t>21-09-2025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619A80CF-EB86-4003-853B-4484F43BEF7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0394705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8" r:id="rId1"/>
    <p:sldLayoutId id="2147483679" r:id="rId2"/>
    <p:sldLayoutId id="2147483680" r:id="rId3"/>
    <p:sldLayoutId id="2147483681" r:id="rId4"/>
    <p:sldLayoutId id="2147483682" r:id="rId5"/>
    <p:sldLayoutId id="2147483683" r:id="rId6"/>
    <p:sldLayoutId id="2147483684" r:id="rId7"/>
    <p:sldLayoutId id="2147483685" r:id="rId8"/>
    <p:sldLayoutId id="2147483686" r:id="rId9"/>
    <p:sldLayoutId id="2147483687" r:id="rId10"/>
    <p:sldLayoutId id="2147483688" r:id="rId11"/>
    <p:sldLayoutId id="2147483689" r:id="rId12"/>
    <p:sldLayoutId id="2147483690" r:id="rId13"/>
    <p:sldLayoutId id="2147483691" r:id="rId14"/>
    <p:sldLayoutId id="2147483692" r:id="rId15"/>
    <p:sldLayoutId id="2147483693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2EA1968A-D790-2B97-9866-7865434EC1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42805" y="1470152"/>
            <a:ext cx="8741968" cy="1868128"/>
          </a:xfrm>
        </p:spPr>
        <p:txBody>
          <a:bodyPr>
            <a:normAutofit/>
          </a:bodyPr>
          <a:lstStyle/>
          <a:p>
            <a:pPr algn="r"/>
            <a:br>
              <a:rPr lang="en-IN" sz="4800" dirty="0"/>
            </a:br>
            <a:r>
              <a:rPr lang="en-IN" sz="4800" dirty="0"/>
              <a:t>Electric Grid Failure Prediction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FEDE401-F15F-0EE3-3A57-0440C57FC09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r"/>
            <a:r>
              <a:rPr lang="en-IN" dirty="0"/>
              <a:t> 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31E0278-6B6B-332D-2692-6206DCB963DC}"/>
              </a:ext>
            </a:extLst>
          </p:cNvPr>
          <p:cNvSpPr txBox="1"/>
          <p:nvPr/>
        </p:nvSpPr>
        <p:spPr>
          <a:xfrm>
            <a:off x="1042220" y="1470152"/>
            <a:ext cx="473914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4800" dirty="0">
                <a:solidFill>
                  <a:schemeClr val="accent1"/>
                </a:solidFill>
              </a:rPr>
              <a:t>Project title:</a:t>
            </a:r>
          </a:p>
        </p:txBody>
      </p:sp>
    </p:spTree>
    <p:extLst>
      <p:ext uri="{BB962C8B-B14F-4D97-AF65-F5344CB8AC3E}">
        <p14:creationId xmlns:p14="http://schemas.microsoft.com/office/powerpoint/2010/main" val="282599644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08A608-7F91-8DF1-5718-1BDA6D4BCE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609600"/>
            <a:ext cx="7886563" cy="875071"/>
          </a:xfrm>
        </p:spPr>
        <p:txBody>
          <a:bodyPr/>
          <a:lstStyle/>
          <a:p>
            <a:r>
              <a:rPr lang="en-IN" dirty="0"/>
              <a:t>Table of content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6F181A-8E88-0DC7-18CB-4F7763D32D5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484671"/>
            <a:ext cx="8596668" cy="4556691"/>
          </a:xfrm>
        </p:spPr>
        <p:txBody>
          <a:bodyPr/>
          <a:lstStyle/>
          <a:p>
            <a:r>
              <a:rPr lang="en-IN" dirty="0"/>
              <a:t>Certificate.</a:t>
            </a:r>
          </a:p>
          <a:p>
            <a:r>
              <a:rPr lang="en-IN" dirty="0"/>
              <a:t>Introduce.</a:t>
            </a:r>
          </a:p>
          <a:p>
            <a:r>
              <a:rPr lang="en-IN" dirty="0"/>
              <a:t>Problem Definition &amp; Scope.</a:t>
            </a:r>
          </a:p>
          <a:p>
            <a:r>
              <a:rPr lang="en-IN" dirty="0"/>
              <a:t>System Requirements.</a:t>
            </a:r>
          </a:p>
          <a:p>
            <a:r>
              <a:rPr lang="en-IN" dirty="0"/>
              <a:t>Implementation.</a:t>
            </a:r>
          </a:p>
          <a:p>
            <a:r>
              <a:rPr lang="en-IN" dirty="0"/>
              <a:t>Results &amp; Discussion.</a:t>
            </a:r>
          </a:p>
          <a:p>
            <a:r>
              <a:rPr lang="en-IN" dirty="0"/>
              <a:t>Conclusion.</a:t>
            </a:r>
          </a:p>
          <a:p>
            <a:r>
              <a:rPr lang="en-IN" dirty="0"/>
              <a:t>Acknowledgment.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73815214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65518F-FB0D-3349-769C-FF0C026626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609600"/>
            <a:ext cx="8723340" cy="850232"/>
          </a:xfrm>
        </p:spPr>
        <p:txBody>
          <a:bodyPr/>
          <a:lstStyle/>
          <a:p>
            <a:r>
              <a:rPr lang="en-IN" b="1" dirty="0">
                <a:solidFill>
                  <a:schemeClr val="tx1"/>
                </a:solidFill>
              </a:rPr>
              <a:t>                     Certificate </a:t>
            </a: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F57E15A7-FA01-4A33-2F99-37C6D01A2FE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56851" y="1341845"/>
            <a:ext cx="7875639" cy="4582193"/>
          </a:xfrm>
        </p:spPr>
      </p:pic>
    </p:spTree>
    <p:extLst>
      <p:ext uri="{BB962C8B-B14F-4D97-AF65-F5344CB8AC3E}">
        <p14:creationId xmlns:p14="http://schemas.microsoft.com/office/powerpoint/2010/main" val="123484559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EFFE63-5C6A-96A9-8196-8C5FB97EE0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1761066" y="489466"/>
            <a:ext cx="8596668" cy="1320800"/>
          </a:xfrm>
        </p:spPr>
        <p:txBody>
          <a:bodyPr/>
          <a:lstStyle/>
          <a:p>
            <a:pPr algn="ctr"/>
            <a:r>
              <a:rPr lang="en-IN" sz="4000" dirty="0"/>
              <a:t>Introduction</a:t>
            </a:r>
            <a:r>
              <a:rPr lang="en-IN" dirty="0"/>
              <a:t>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3EE0D0-3BFD-011D-5A1F-D13DFEAB587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3" y="1533833"/>
            <a:ext cx="9095931" cy="4507530"/>
          </a:xfrm>
        </p:spPr>
        <p:txBody>
          <a:bodyPr>
            <a:normAutofit/>
          </a:bodyPr>
          <a:lstStyle/>
          <a:p>
            <a:r>
              <a:rPr lang="en-US" sz="2100" dirty="0"/>
              <a:t> </a:t>
            </a:r>
            <a:r>
              <a:rPr lang="en-IN" sz="2000" dirty="0"/>
              <a:t>Domain: Java &amp; Data Structures.</a:t>
            </a:r>
          </a:p>
          <a:p>
            <a:endParaRPr lang="en-IN" sz="2000" dirty="0"/>
          </a:p>
          <a:p>
            <a:r>
              <a:rPr lang="en-US" sz="2000" dirty="0"/>
              <a:t>Focus on real-time system simulation.</a:t>
            </a:r>
          </a:p>
          <a:p>
            <a:endParaRPr lang="en-US" sz="2000" dirty="0"/>
          </a:p>
          <a:p>
            <a:r>
              <a:rPr lang="en-IN" sz="2000" dirty="0"/>
              <a:t>Key Data Structures: Graphs, Queues, Priority Queues.</a:t>
            </a:r>
          </a:p>
          <a:p>
            <a:endParaRPr lang="en-IN" sz="2000" dirty="0"/>
          </a:p>
          <a:p>
            <a:r>
              <a:rPr lang="en-US" sz="2000" dirty="0"/>
              <a:t>Objective: Predict potential electric grid failures.</a:t>
            </a:r>
          </a:p>
          <a:p>
            <a:pPr marL="0" indent="0">
              <a:buNone/>
            </a:pPr>
            <a:endParaRPr lang="en-US" altLang="en-US" sz="2000" dirty="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sp>
        <p:nvSpPr>
          <p:cNvPr id="12" name="Rectangle 8">
            <a:extLst>
              <a:ext uri="{FF2B5EF4-FFF2-40B4-BE49-F238E27FC236}">
                <a16:creationId xmlns:a16="http://schemas.microsoft.com/office/drawing/2014/main" id="{0E431587-C0FE-D021-FFFF-23388815FF4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4800" y="120134"/>
            <a:ext cx="264816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0215093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9E6953-9FBA-12C7-9797-5489F8758A6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7165" y="570551"/>
            <a:ext cx="8810795" cy="571689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sz="4000" dirty="0">
                <a:solidFill>
                  <a:schemeClr val="accent1"/>
                </a:solidFill>
              </a:rPr>
              <a:t>Problem Definition &amp; Scope:</a:t>
            </a:r>
            <a:endParaRPr lang="en-IN" sz="4000" b="1" dirty="0">
              <a:solidFill>
                <a:schemeClr val="accent1"/>
              </a:solidFill>
            </a:endParaRPr>
          </a:p>
          <a:p>
            <a:pPr marL="0" indent="0">
              <a:buNone/>
            </a:pPr>
            <a:endParaRPr lang="en-IN" sz="2000" b="1" dirty="0">
              <a:solidFill>
                <a:schemeClr val="accent1"/>
              </a:solidFill>
            </a:endParaRPr>
          </a:p>
          <a:p>
            <a:pPr marL="0" indent="0">
              <a:buNone/>
            </a:pPr>
            <a:r>
              <a:rPr lang="en-US" sz="2000" dirty="0"/>
              <a:t>Power grids are prone to failures due to overloads, temperature rise, or voltage/current fluctuations. The goal is to predict these failures using a software model. </a:t>
            </a:r>
          </a:p>
          <a:p>
            <a:pPr marL="0" indent="0">
              <a:buNone/>
            </a:pPr>
            <a:endParaRPr lang="en-US" sz="2000" dirty="0"/>
          </a:p>
          <a:p>
            <a:r>
              <a:rPr lang="en-US" sz="2000" dirty="0"/>
              <a:t>Identify high-risk grid nodes </a:t>
            </a:r>
          </a:p>
          <a:p>
            <a:r>
              <a:rPr lang="en-US" sz="2000" dirty="0"/>
              <a:t>Predict cascading failures </a:t>
            </a:r>
          </a:p>
          <a:p>
            <a:r>
              <a:rPr lang="en-US" sz="2000" dirty="0"/>
              <a:t>Find critical paths from failure nodes to generators </a:t>
            </a:r>
          </a:p>
          <a:p>
            <a:r>
              <a:rPr lang="en-US" sz="2000" dirty="0"/>
              <a:t>Incorporate weather influence in grid stability</a:t>
            </a:r>
            <a:endParaRPr lang="en-US" altLang="en-US" sz="2000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endParaRPr lang="en-US" sz="2000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1508207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CE3AF0-4ACA-9640-E903-5EF5E29B46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609600"/>
            <a:ext cx="6244576" cy="353961"/>
          </a:xfrm>
        </p:spPr>
        <p:txBody>
          <a:bodyPr>
            <a:normAutofit fontScale="90000"/>
          </a:bodyPr>
          <a:lstStyle/>
          <a:p>
            <a:r>
              <a:rPr lang="en-IN" dirty="0"/>
              <a:t>.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45A766-285E-D436-30FC-EC73F27C91D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433180"/>
            <a:ext cx="8851215" cy="581522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sz="4000" dirty="0">
                <a:solidFill>
                  <a:schemeClr val="accent1"/>
                </a:solidFill>
              </a:rPr>
              <a:t>System Requirements:</a:t>
            </a:r>
            <a:endParaRPr lang="en-US" altLang="en-US" sz="4000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marL="0" indent="0">
              <a:buNone/>
            </a:pPr>
            <a:endParaRPr lang="en-US" altLang="en-US" sz="2000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marL="0" indent="0">
              <a:buNone/>
            </a:pPr>
            <a:endParaRPr lang="en-US" altLang="en-US" sz="2000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r>
              <a:rPr lang="en-US" sz="2000" dirty="0"/>
              <a:t>Software: JDK 8 or higher, VS Code</a:t>
            </a:r>
          </a:p>
          <a:p>
            <a:r>
              <a:rPr lang="nn-NO" sz="2000" dirty="0"/>
              <a:t>Hardware: Minimum 4 GB RAM</a:t>
            </a:r>
          </a:p>
          <a:p>
            <a:r>
              <a:rPr lang="en-IN" sz="2000" dirty="0"/>
              <a:t>Environment: Command-line or IDE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31798126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D81ACE-8668-08D9-5BEA-FDB2535EA8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0521" y="727586"/>
            <a:ext cx="6254408" cy="717755"/>
          </a:xfrm>
        </p:spPr>
        <p:txBody>
          <a:bodyPr>
            <a:normAutofit/>
          </a:bodyPr>
          <a:lstStyle/>
          <a:p>
            <a:r>
              <a:rPr lang="en-IN" dirty="0"/>
              <a:t>  Implementation: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54DE4B-0B4E-3FD3-9658-E54444ED1AE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700981"/>
            <a:ext cx="8408762" cy="4635349"/>
          </a:xfrm>
        </p:spPr>
        <p:txBody>
          <a:bodyPr/>
          <a:lstStyle/>
          <a:p>
            <a:r>
              <a:rPr lang="en-IN" sz="2000" dirty="0"/>
              <a:t>Nodes </a:t>
            </a:r>
            <a:r>
              <a:rPr lang="en-IN" sz="2000" dirty="0" err="1"/>
              <a:t>modeled</a:t>
            </a:r>
            <a:r>
              <a:rPr lang="en-IN" sz="2000" dirty="0"/>
              <a:t> as objects</a:t>
            </a:r>
          </a:p>
          <a:p>
            <a:r>
              <a:rPr lang="en-US" sz="2000" dirty="0"/>
              <a:t>Graph constructed using adjacency list</a:t>
            </a:r>
          </a:p>
          <a:p>
            <a:r>
              <a:rPr lang="en-IN" sz="2000" dirty="0" err="1"/>
              <a:t>PriorityQueue</a:t>
            </a:r>
            <a:r>
              <a:rPr lang="en-IN" sz="2000" dirty="0"/>
              <a:t> for minimal failure paths</a:t>
            </a:r>
          </a:p>
          <a:p>
            <a:r>
              <a:rPr lang="en-US" sz="2000" dirty="0"/>
              <a:t>Weather data factored into temperature calculations</a:t>
            </a:r>
            <a:endParaRPr lang="en-IN" sz="2000" b="1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91836532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A66D1E23-C3B2-386D-11DA-51B3101922C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96413" y="1924614"/>
            <a:ext cx="8596668" cy="3880773"/>
          </a:xfrm>
        </p:spPr>
        <p:txBody>
          <a:bodyPr>
            <a:normAutofit/>
          </a:bodyPr>
          <a:lstStyle/>
          <a:p>
            <a:r>
              <a:rPr lang="en-US" sz="2000" dirty="0"/>
              <a:t>System prints grid report with voltage, current, temperature, and failure probability.</a:t>
            </a:r>
          </a:p>
          <a:p>
            <a:r>
              <a:rPr lang="en-US" sz="2000" dirty="0"/>
              <a:t>Nodes with &gt;30% probability flagged as high-risk.</a:t>
            </a:r>
          </a:p>
          <a:p>
            <a:r>
              <a:rPr lang="en-US" sz="2000" dirty="0"/>
              <a:t>Shortest paths calculated using BFS/</a:t>
            </a:r>
            <a:r>
              <a:rPr lang="en-IN" sz="2000" dirty="0"/>
              <a:t>Dijkstra</a:t>
            </a:r>
          </a:p>
          <a:p>
            <a:r>
              <a:rPr lang="en-US" sz="2000" dirty="0"/>
              <a:t>Challenges: input validation, graph traversal, weather integration.</a:t>
            </a:r>
          </a:p>
          <a:p>
            <a:r>
              <a:rPr lang="en-US" sz="2000" dirty="0"/>
              <a:t>Learnings: hands-on Java, graph algorithms, dynamic data integration</a:t>
            </a:r>
          </a:p>
          <a:p>
            <a:endParaRPr lang="en-IN" sz="20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69E06FB-C005-B04C-96D5-F363BF2A1498}"/>
              </a:ext>
            </a:extLst>
          </p:cNvPr>
          <p:cNvSpPr txBox="1"/>
          <p:nvPr/>
        </p:nvSpPr>
        <p:spPr>
          <a:xfrm>
            <a:off x="796413" y="530942"/>
            <a:ext cx="501445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4000" dirty="0">
                <a:solidFill>
                  <a:schemeClr val="accent1"/>
                </a:solidFill>
              </a:rPr>
              <a:t>Results &amp; Discussion</a:t>
            </a:r>
          </a:p>
        </p:txBody>
      </p:sp>
    </p:spTree>
    <p:extLst>
      <p:ext uri="{BB962C8B-B14F-4D97-AF65-F5344CB8AC3E}">
        <p14:creationId xmlns:p14="http://schemas.microsoft.com/office/powerpoint/2010/main" val="311129487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C030A6-A5FF-C074-758D-CE707FEA9C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012723"/>
          </a:xfrm>
        </p:spPr>
        <p:txBody>
          <a:bodyPr/>
          <a:lstStyle/>
          <a:p>
            <a:r>
              <a:rPr lang="en-IN" dirty="0"/>
              <a:t>Conclusion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E19464F-D13B-3A05-C63B-9FEB3D8ADF7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3" y="1258529"/>
            <a:ext cx="8732137" cy="4807974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US" sz="2000" b="1" dirty="0"/>
          </a:p>
          <a:p>
            <a:r>
              <a:rPr lang="en-US" sz="2000" dirty="0"/>
              <a:t>Simulation of electric grid failure using Java &amp; Data Structures</a:t>
            </a:r>
          </a:p>
          <a:p>
            <a:r>
              <a:rPr lang="en-US" sz="2000" dirty="0"/>
              <a:t>Real-time monitoring of voltage, current, temperature</a:t>
            </a:r>
          </a:p>
          <a:p>
            <a:r>
              <a:rPr lang="en-IN" sz="2000" dirty="0"/>
              <a:t>High-risk nodes flagged &gt;30%</a:t>
            </a:r>
          </a:p>
          <a:p>
            <a:r>
              <a:rPr lang="en-US" sz="2000" dirty="0"/>
              <a:t>Shortest path to backup generators improves emergency response</a:t>
            </a:r>
          </a:p>
          <a:p>
            <a:r>
              <a:rPr lang="en-US" sz="2000" dirty="0"/>
              <a:t>Prevents cascading failures &amp; improves grid reliability</a:t>
            </a:r>
          </a:p>
          <a:p>
            <a:r>
              <a:rPr lang="en-US" sz="2000" dirty="0"/>
              <a:t>My project can be used in </a:t>
            </a:r>
            <a:r>
              <a:rPr lang="en-US" sz="2000" b="1" dirty="0"/>
              <a:t>power grid control centers, smart </a:t>
            </a:r>
            <a:r>
              <a:rPr lang="en-US" sz="2000" b="1"/>
              <a:t>grids, </a:t>
            </a:r>
            <a:r>
              <a:rPr lang="en-US" sz="2000" b="1" dirty="0"/>
              <a:t>disaster management, industries, and government electricity boards</a:t>
            </a:r>
            <a:r>
              <a:rPr lang="en-US" sz="2000" dirty="0"/>
              <a:t>. Basically, anywhere electricity needs to be supplied reliably, this kind of predictive system is useful.”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00422404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8D250B-F651-1373-CCB3-173791EC61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Acknowledgment</a:t>
            </a:r>
            <a:br>
              <a:rPr lang="en-IN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950167-11EF-2422-A5BD-DA01A30D596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747634"/>
            <a:ext cx="8596668" cy="3880773"/>
          </a:xfrm>
        </p:spPr>
        <p:txBody>
          <a:bodyPr>
            <a:normAutofit/>
          </a:bodyPr>
          <a:lstStyle/>
          <a:p>
            <a:r>
              <a:rPr lang="en-US" sz="2000" dirty="0"/>
              <a:t>Grateful to Dr. Nishant Agnihotri for guidance.</a:t>
            </a:r>
          </a:p>
          <a:p>
            <a:r>
              <a:rPr lang="en-US" sz="2000" dirty="0"/>
              <a:t>Thanks to Mr. Puneet Kumar for technical assistance.</a:t>
            </a:r>
          </a:p>
          <a:p>
            <a:r>
              <a:rPr lang="en-US" sz="2000" dirty="0"/>
              <a:t>Support from School of Computer Science and Engineering</a:t>
            </a:r>
            <a:endParaRPr lang="en-IN" sz="2000" dirty="0"/>
          </a:p>
        </p:txBody>
      </p:sp>
    </p:spTree>
    <p:extLst>
      <p:ext uri="{BB962C8B-B14F-4D97-AF65-F5344CB8AC3E}">
        <p14:creationId xmlns:p14="http://schemas.microsoft.com/office/powerpoint/2010/main" val="1787696818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crush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189</TotalTime>
  <Words>342</Words>
  <Application>Microsoft Office PowerPoint</Application>
  <PresentationFormat>Widescreen</PresentationFormat>
  <Paragraphs>61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Trebuchet MS</vt:lpstr>
      <vt:lpstr>Wingdings 3</vt:lpstr>
      <vt:lpstr>Facet</vt:lpstr>
      <vt:lpstr> Electric Grid Failure Prediction</vt:lpstr>
      <vt:lpstr>Table of content </vt:lpstr>
      <vt:lpstr>                     Certificate </vt:lpstr>
      <vt:lpstr>Introduction </vt:lpstr>
      <vt:lpstr>PowerPoint Presentation</vt:lpstr>
      <vt:lpstr>.</vt:lpstr>
      <vt:lpstr>  Implementation:</vt:lpstr>
      <vt:lpstr>PowerPoint Presentation</vt:lpstr>
      <vt:lpstr>Conclusion</vt:lpstr>
      <vt:lpstr>Acknowledgment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Yanamala Sree Hari</dc:creator>
  <cp:lastModifiedBy>Venkatarami Reddy Vemireddy</cp:lastModifiedBy>
  <cp:revision>4</cp:revision>
  <dcterms:created xsi:type="dcterms:W3CDTF">2025-07-15T03:58:48Z</dcterms:created>
  <dcterms:modified xsi:type="dcterms:W3CDTF">2025-09-21T06:16:49Z</dcterms:modified>
</cp:coreProperties>
</file>